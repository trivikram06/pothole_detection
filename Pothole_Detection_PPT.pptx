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0" r:id="rId4"/>
    <p:sldId id="262" r:id="rId5"/>
    <p:sldId id="269" r:id="rId6"/>
    <p:sldId id="267" r:id="rId7"/>
    <p:sldId id="268" r:id="rId8"/>
    <p:sldId id="270" r:id="rId9"/>
    <p:sldId id="271" r:id="rId10"/>
    <p:sldId id="273" r:id="rId11"/>
    <p:sldId id="261" r:id="rId12"/>
    <p:sldId id="266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8" autoAdjust="0"/>
  </p:normalViewPr>
  <p:slideViewPr>
    <p:cSldViewPr snapToGrid="0" snapToObjects="1">
      <p:cViewPr varScale="1">
        <p:scale>
          <a:sx n="64" d="100"/>
          <a:sy n="64" d="100"/>
        </p:scale>
        <p:origin x="154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30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E38D73-03C4-4AAC-9877-1422C67A76E3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2D7D8A-0F8C-43A7-8896-882BD682A4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198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D7D8A-0F8C-43A7-8896-882BD682A4C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391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3066-B1A0-4580-B1A9-324F6AE23FF7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1CAA8-3A0D-4532-AB5D-AB3DA99A18C2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AB651-E1F7-40DA-ACF8-CD282F3BC69F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439D-6FB4-4BDF-933B-82B3E6C37094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C0CEC-F89B-4A4E-8504-773482E54FD0}" type="datetime1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A1698-1227-4DA3-9543-433ABACE5E19}" type="datetime1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246A-2341-4FAB-A49D-4B366FACB992}" type="datetime1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1FC44-5EB7-43BB-9F29-DDA3DA272807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999A8-410D-490D-9A08-1AB452D6C1EF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060A5-F667-4CDE-8DAA-2BDC1C7D8555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DAA4E-820D-463B-BAF5-A90B3F8AA7E6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DECEE-A662-45A2-A392-C3A6B88891BE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90297"/>
            <a:ext cx="7772400" cy="1419225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Weather-Robust Road Damage Detection with Enhanced Small Pothole Detection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23C62-35E4-BEBB-12F8-625EFE79F1BE}"/>
              </a:ext>
            </a:extLst>
          </p:cNvPr>
          <p:cNvSpPr txBox="1"/>
          <p:nvPr/>
        </p:nvSpPr>
        <p:spPr>
          <a:xfrm>
            <a:off x="5122606" y="5381936"/>
            <a:ext cx="45621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Batch-047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221FA04086  Syed. Ashraf. Ali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221FA04137  G. Trivikram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312B5-A3C9-0652-6B6C-39A1916AEC2D}"/>
              </a:ext>
            </a:extLst>
          </p:cNvPr>
          <p:cNvSpPr txBox="1"/>
          <p:nvPr/>
        </p:nvSpPr>
        <p:spPr>
          <a:xfrm>
            <a:off x="1015181" y="3762308"/>
            <a:ext cx="711363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S. Satish kumar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DE227-C70C-BD2E-DF64-ABA53CD3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1600" b="1" smtClean="0"/>
              <a:t>1</a:t>
            </a:fld>
            <a:endParaRPr lang="en-US" sz="1600" b="1" dirty="0"/>
          </a:p>
        </p:txBody>
      </p:sp>
      <p:pic>
        <p:nvPicPr>
          <p:cNvPr id="2050" name="Picture 2" descr="Diploma Programs – Vignan University ...">
            <a:extLst>
              <a:ext uri="{FF2B5EF4-FFF2-40B4-BE49-F238E27FC236}">
                <a16:creationId xmlns:a16="http://schemas.microsoft.com/office/drawing/2014/main" id="{77047CCD-A5AC-124F-B409-181F6DDB0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75461"/>
            <a:ext cx="6322141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4300"/>
            <a:ext cx="8229600" cy="489160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potholes threaten global transportation by causing accidents, vehicle damage, and traffic delays, demanding efficient detection solutions.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and basic image-processing methods are labor-intensive, costly, and unreliable across diverse road conditions.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like YOLOv8/YOLOv11 variants enable real-time, automated pothole detection for safer roads and proactive maintenance.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Attention-enhanced YOLO systems improve small pothole detection in adverse weather using MWPD dataset.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08826-DFD9-505D-293D-4C9B93BA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1600" b="1" smtClean="0"/>
              <a:t>2</a:t>
            </a:fld>
            <a:endParaRPr lang="en-US" sz="16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Dataset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548255" cy="5155483"/>
          </a:xfrm>
        </p:spPr>
        <p:txBody>
          <a:bodyPr>
            <a:normAutofit/>
          </a:bodyPr>
          <a:lstStyle/>
          <a:p>
            <a:pPr fontAlgn="base"/>
            <a:r>
              <a:rPr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Multi-Weather Pothole Detection (MWPD)</a:t>
            </a:r>
          </a:p>
          <a:p>
            <a:pPr algn="just"/>
            <a:r>
              <a:rPr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</a:p>
          <a:p>
            <a:pPr algn="just"/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DatasetLink:https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://www.kaggle.com/datasets/jocelyndumlao/multi-weather-pothole-detection-mwpd</a:t>
            </a:r>
          </a:p>
          <a:p>
            <a:pPr algn="just"/>
            <a:r>
              <a:rPr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Samples: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3000</a:t>
            </a:r>
          </a:p>
          <a:p>
            <a:pPr algn="just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Type: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 road-scene images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1BB482-C4CC-C044-2796-3B732680C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09655"/>
              </p:ext>
            </p:extLst>
          </p:nvPr>
        </p:nvGraphicFramePr>
        <p:xfrm>
          <a:off x="2618509" y="4641273"/>
          <a:ext cx="5055568" cy="1677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8294">
                  <a:extLst>
                    <a:ext uri="{9D8B030D-6E8A-4147-A177-3AD203B41FA5}">
                      <a16:colId xmlns:a16="http://schemas.microsoft.com/office/drawing/2014/main" val="3155946151"/>
                    </a:ext>
                  </a:extLst>
                </a:gridCol>
                <a:gridCol w="2507274">
                  <a:extLst>
                    <a:ext uri="{9D8B030D-6E8A-4147-A177-3AD203B41FA5}">
                      <a16:colId xmlns:a16="http://schemas.microsoft.com/office/drawing/2014/main" val="753793274"/>
                    </a:ext>
                  </a:extLst>
                </a:gridCol>
              </a:tblGrid>
              <a:tr h="419417"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bg1"/>
                          </a:solidFill>
                        </a:rPr>
                        <a:t>Images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Samples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086862"/>
                  </a:ext>
                </a:extLst>
              </a:tr>
              <a:tr h="419417"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Train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2730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896075"/>
                  </a:ext>
                </a:extLst>
              </a:tr>
              <a:tr h="419417"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836367"/>
                  </a:ext>
                </a:extLst>
              </a:tr>
              <a:tr h="419417"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91360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6AC88B-7FFD-7A6D-53A7-3A231845B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07277" y="6390558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z="1600" b="1" smtClean="0"/>
              <a:t>3</a:t>
            </a:fld>
            <a:endParaRPr lang="en-US" sz="1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9525"/>
            <a:ext cx="8229600" cy="916853"/>
          </a:xfrm>
        </p:spPr>
        <p:txBody>
          <a:bodyPr/>
          <a:lstStyle/>
          <a:p>
            <a:r>
              <a:rPr b="1" dirty="0">
                <a:solidFill>
                  <a:srgbClr val="FF0000"/>
                </a:solidFill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5259"/>
            <a:ext cx="8229600" cy="540327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YOLO)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Frameworks: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Multi-Weather Pothole Detection (MWPD)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YOLOv10m, YOLOv11n/s/m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Platform: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0C875-9DDF-0585-741E-D55E9CCBE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1600" b="1" smtClean="0"/>
              <a:t>4</a:t>
            </a:fld>
            <a:endParaRPr lang="en-US" sz="16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F3E9-7773-338E-ADC2-477F0D1AA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OBJECTIVES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FB3D9-5DC5-102E-C432-24A482186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9041"/>
            <a:ext cx="8377084" cy="47959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weather-robust road damage detection with small pothole enhancement.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model performance using attention mechanisms.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baseline YOLOv8 with enhanced YOLO variants.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performance using standard detection metrics.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effort and dependency on road inspectors.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6A817-A4EA-CA3D-0FE2-32B10B77D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3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95804F2-0A6C-BEFD-6868-4F53C6D9C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0"/>
            <a:ext cx="8229600" cy="890395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LITERATURE SURVEY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5EAFF-9303-9EAF-76E0-1CD464ABD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26826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5" y="890395"/>
            <a:ext cx="8298808" cy="5482696"/>
          </a:xfrm>
        </p:spPr>
      </p:pic>
      <p:sp>
        <p:nvSpPr>
          <p:cNvPr id="3" name="AutoShape 2" descr="blob:https://web.whatsapp.com/4603eca0-0e1f-47f6-b5d1-461199e08d3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10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EFC52-1760-EA06-326A-3ED8337D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6994" y="6462810"/>
            <a:ext cx="2133600" cy="365125"/>
          </a:xfrm>
        </p:spPr>
        <p:txBody>
          <a:bodyPr/>
          <a:lstStyle/>
          <a:p>
            <a:r>
              <a:rPr lang="en-US" dirty="0"/>
              <a:t>5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99" y="241794"/>
            <a:ext cx="8438674" cy="797056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99" y="1038465"/>
            <a:ext cx="8438674" cy="522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500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5A49-62A6-6576-3C9C-7517C9E12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710" y="-20775"/>
            <a:ext cx="8229600" cy="76177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F8DD2-B86A-313F-9ADB-3A7D6B06A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710" y="656980"/>
            <a:ext cx="8553617" cy="594874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Dataset Collection</a:t>
            </a:r>
          </a:p>
          <a:p>
            <a:pPr algn="just"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the Multi-Weather Pothole Detection (MWPD) dataset.</a:t>
            </a:r>
          </a:p>
          <a:p>
            <a:pPr algn="just"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pothole images across diverse weather conditions (rain, fog, night, sunny).</a:t>
            </a:r>
          </a:p>
          <a:p>
            <a:pPr algn="just"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small and large potholes with real-world road variations, ideal for robust detection.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Image Preprocessing</a:t>
            </a:r>
          </a:p>
          <a:p>
            <a:pPr algn="just"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images are resized to 640 × 640 pixels for optimal YOLO input dimensions.</a:t>
            </a:r>
          </a:p>
          <a:p>
            <a:pPr algn="just"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values are normalized to 0–1 range with data augmentation (mosaic,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mixup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weather simulation).</a:t>
            </a:r>
          </a:p>
          <a:p>
            <a:pPr algn="just"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split into training, validation, and testing sets (70:20:10 ratio).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Feature Extraction using YOLO</a:t>
            </a:r>
          </a:p>
          <a:p>
            <a:pPr algn="just"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YOLOv8n/s/m extract multi-scale features from road images.</a:t>
            </a:r>
          </a:p>
          <a:p>
            <a:pPr algn="just"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texture, edges, and shape patterns of potholes against complex backgrounds.</a:t>
            </a:r>
          </a:p>
          <a:p>
            <a:pPr algn="just"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CSPDarknet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efficient computation for real-time edge deployment.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4634C-FEAA-78C8-BB6B-6313F6460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515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8759E-E6F3-698A-353E-496F8545E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374" y="601559"/>
            <a:ext cx="8229600" cy="59373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Small Pothole Enhancement Module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attention mechanism (C2f-CBAM) integrated into YOLO neck after backbone.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small pothole regions by emphasizing fine crack textures and edges.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Suppresses weather artifacts (rain, shadows, glare) and enhances road damage representation.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Multi-Scale Detection Heads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features pass through: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PAFPN for multi-scale feature fusion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detection heads (small/medium/large scales)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CIoU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loss for precise bounding box regression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NMS filters detections for final pothole outputs with confidence scores.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Model Evaluation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mAP@0.5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FPS (Frames Per Second)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CC2EC-304F-E577-1D15-8F595B5B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360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B281FE-A3E1-315D-B30E-D497B54E3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DB807C-2C44-1819-6BD9-E6A9B2ACD374}"/>
              </a:ext>
            </a:extLst>
          </p:cNvPr>
          <p:cNvSpPr txBox="1"/>
          <p:nvPr/>
        </p:nvSpPr>
        <p:spPr>
          <a:xfrm>
            <a:off x="3205315" y="6488668"/>
            <a:ext cx="2733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Fig 1: Methodology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4" t="2615" r="8919" b="3224"/>
          <a:stretch/>
        </p:blipFill>
        <p:spPr>
          <a:xfrm>
            <a:off x="2673926" y="371187"/>
            <a:ext cx="3796146" cy="598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98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and Proposed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302551"/>
            <a:ext cx="8368145" cy="464328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3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Model: 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YOLOv8n/s/m used as baseline for road damage detection without specialized enhancements.</a:t>
            </a:r>
          </a:p>
          <a:p>
            <a:pPr algn="just">
              <a:lnSpc>
                <a:spcPct val="150000"/>
              </a:lnSpc>
            </a:pPr>
            <a:r>
              <a:rPr lang="en-US" sz="23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Multi-scale road features extracted using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CSPDarknet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backbone from weather-affected images.</a:t>
            </a:r>
          </a:p>
          <a:p>
            <a:pPr algn="just">
              <a:lnSpc>
                <a:spcPct val="150000"/>
              </a:lnSpc>
            </a:pPr>
            <a:r>
              <a:rPr lang="en-US" sz="23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Attention-enhanced YOLO variants (YOLOv9s/e, YOLOv10m, YOLOv11n/s/m) with small pothole enhancement modules.</a:t>
            </a:r>
          </a:p>
          <a:p>
            <a:pPr algn="just">
              <a:lnSpc>
                <a:spcPct val="150000"/>
              </a:lnSpc>
            </a:pPr>
            <a:r>
              <a:rPr lang="en-US" sz="23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improve weather-robust pothole detection accuracy by focusing on small damage regions and suppressing weather noise.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3E4B6-BDDE-9241-93FC-FBF23058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28155" y="6361473"/>
            <a:ext cx="958645" cy="330508"/>
          </a:xfrm>
        </p:spPr>
        <p:txBody>
          <a:bodyPr/>
          <a:lstStyle/>
          <a:p>
            <a:fld id="{C1FF6DA9-008F-8B48-92A6-B652298478BF}" type="slidenum">
              <a:rPr lang="en-US" sz="1600" b="1" smtClean="0"/>
              <a:t>11</a:t>
            </a:fld>
            <a:endParaRPr lang="en-US" sz="16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D28FFE-8670-D6D4-2104-6E21F22D6FD7}"/>
              </a:ext>
            </a:extLst>
          </p:cNvPr>
          <p:cNvSpPr txBox="1"/>
          <p:nvPr/>
        </p:nvSpPr>
        <p:spPr>
          <a:xfrm>
            <a:off x="106680" y="2228850"/>
            <a:ext cx="739902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rgbClr val="FF0000"/>
                </a:solidFill>
              </a:rPr>
              <a:t> </a:t>
            </a:r>
          </a:p>
          <a:p>
            <a:r>
              <a:rPr lang="en-IN" sz="2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Gantt</a:t>
            </a:r>
          </a:p>
          <a:p>
            <a:r>
              <a:rPr lang="en-IN" sz="2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chart:</a:t>
            </a:r>
            <a:endParaRPr lang="en-IN" sz="27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35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9F4601-6578-65AB-6421-4A04D6090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953598"/>
              </p:ext>
            </p:extLst>
          </p:nvPr>
        </p:nvGraphicFramePr>
        <p:xfrm>
          <a:off x="1356361" y="935382"/>
          <a:ext cx="7288876" cy="4760808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927166">
                  <a:extLst>
                    <a:ext uri="{9D8B030D-6E8A-4147-A177-3AD203B41FA5}">
                      <a16:colId xmlns:a16="http://schemas.microsoft.com/office/drawing/2014/main" val="58984834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1569122707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82405574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75059645"/>
                    </a:ext>
                  </a:extLst>
                </a:gridCol>
                <a:gridCol w="540327">
                  <a:extLst>
                    <a:ext uri="{9D8B030D-6E8A-4147-A177-3AD203B41FA5}">
                      <a16:colId xmlns:a16="http://schemas.microsoft.com/office/drawing/2014/main" val="3025159744"/>
                    </a:ext>
                  </a:extLst>
                </a:gridCol>
                <a:gridCol w="595746">
                  <a:extLst>
                    <a:ext uri="{9D8B030D-6E8A-4147-A177-3AD203B41FA5}">
                      <a16:colId xmlns:a16="http://schemas.microsoft.com/office/drawing/2014/main" val="2032046915"/>
                    </a:ext>
                  </a:extLst>
                </a:gridCol>
                <a:gridCol w="533054">
                  <a:extLst>
                    <a:ext uri="{9D8B030D-6E8A-4147-A177-3AD203B41FA5}">
                      <a16:colId xmlns:a16="http://schemas.microsoft.com/office/drawing/2014/main" val="834982851"/>
                    </a:ext>
                  </a:extLst>
                </a:gridCol>
                <a:gridCol w="615194">
                  <a:extLst>
                    <a:ext uri="{9D8B030D-6E8A-4147-A177-3AD203B41FA5}">
                      <a16:colId xmlns:a16="http://schemas.microsoft.com/office/drawing/2014/main" val="1985823506"/>
                    </a:ext>
                  </a:extLst>
                </a:gridCol>
                <a:gridCol w="638555">
                  <a:extLst>
                    <a:ext uri="{9D8B030D-6E8A-4147-A177-3AD203B41FA5}">
                      <a16:colId xmlns:a16="http://schemas.microsoft.com/office/drawing/2014/main" val="158839668"/>
                    </a:ext>
                  </a:extLst>
                </a:gridCol>
                <a:gridCol w="568470">
                  <a:extLst>
                    <a:ext uri="{9D8B030D-6E8A-4147-A177-3AD203B41FA5}">
                      <a16:colId xmlns:a16="http://schemas.microsoft.com/office/drawing/2014/main" val="890217557"/>
                    </a:ext>
                  </a:extLst>
                </a:gridCol>
              </a:tblGrid>
              <a:tr h="547553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DEC</a:t>
                      </a:r>
                    </a:p>
                    <a:p>
                      <a:r>
                        <a:rPr lang="en-IN" sz="1400" dirty="0"/>
                        <a:t>22-31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JAN</a:t>
                      </a:r>
                    </a:p>
                    <a:p>
                      <a:r>
                        <a:rPr lang="en-IN" sz="1400" dirty="0"/>
                        <a:t>1-14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JAN</a:t>
                      </a:r>
                    </a:p>
                    <a:p>
                      <a:r>
                        <a:rPr lang="en-IN" sz="1400" dirty="0"/>
                        <a:t>15-31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FEB</a:t>
                      </a:r>
                    </a:p>
                    <a:p>
                      <a:r>
                        <a:rPr lang="en-IN" sz="1400" dirty="0"/>
                        <a:t>1-14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FEB</a:t>
                      </a:r>
                    </a:p>
                    <a:p>
                      <a:r>
                        <a:rPr lang="en-IN" sz="1400" dirty="0"/>
                        <a:t>15-28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MAR</a:t>
                      </a:r>
                    </a:p>
                    <a:p>
                      <a:r>
                        <a:rPr lang="en-IN" sz="1400" dirty="0"/>
                        <a:t>1-14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MAR</a:t>
                      </a:r>
                    </a:p>
                    <a:p>
                      <a:r>
                        <a:rPr lang="en-IN" sz="1400" dirty="0"/>
                        <a:t>15-31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APRIL</a:t>
                      </a:r>
                    </a:p>
                    <a:p>
                      <a:r>
                        <a:rPr lang="en-IN" sz="1400" dirty="0"/>
                        <a:t>1-14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APRIL</a:t>
                      </a:r>
                    </a:p>
                    <a:p>
                      <a:r>
                        <a:rPr lang="en-IN" sz="1400" dirty="0"/>
                        <a:t>15-30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16002609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IN" sz="1400" dirty="0"/>
                        <a:t>Problem Definition &amp; objectives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87773558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lang="en-IN" sz="1400" dirty="0"/>
                        <a:t>Literature Review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378902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IN" sz="1400" dirty="0"/>
                        <a:t>Dataset Collection/Preparation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54620664"/>
                  </a:ext>
                </a:extLst>
              </a:tr>
              <a:tr h="358019">
                <a:tc>
                  <a:txBody>
                    <a:bodyPr/>
                    <a:lstStyle/>
                    <a:p>
                      <a:r>
                        <a:rPr lang="en-IN" sz="1400" dirty="0"/>
                        <a:t>Methodology Design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36886893"/>
                  </a:ext>
                </a:extLst>
              </a:tr>
              <a:tr h="358019">
                <a:tc>
                  <a:txBody>
                    <a:bodyPr/>
                    <a:lstStyle/>
                    <a:p>
                      <a:r>
                        <a:rPr lang="en-IN" sz="1400" dirty="0"/>
                        <a:t>Experiments &amp; Tuning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73665486"/>
                  </a:ext>
                </a:extLst>
              </a:tr>
              <a:tr h="358019">
                <a:tc>
                  <a:txBody>
                    <a:bodyPr/>
                    <a:lstStyle/>
                    <a:p>
                      <a:r>
                        <a:rPr lang="en-IN" sz="1400" dirty="0"/>
                        <a:t>Result Analysis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82358297"/>
                  </a:ext>
                </a:extLst>
              </a:tr>
              <a:tr h="358019">
                <a:tc>
                  <a:txBody>
                    <a:bodyPr/>
                    <a:lstStyle/>
                    <a:p>
                      <a:r>
                        <a:rPr lang="en-IN" sz="1400" dirty="0"/>
                        <a:t>Paper Writing(Draft)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73841104"/>
                  </a:ext>
                </a:extLst>
              </a:tr>
              <a:tr h="358019">
                <a:tc>
                  <a:txBody>
                    <a:bodyPr/>
                    <a:lstStyle/>
                    <a:p>
                      <a:r>
                        <a:rPr lang="en-IN" sz="1400" dirty="0"/>
                        <a:t>Revision &amp; Formatting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404241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IN" sz="1400" dirty="0"/>
                        <a:t>Plagiarism Check &amp; Proofreading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34251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IN" sz="1400" dirty="0"/>
                        <a:t>Journal Selection &amp;Submission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247284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DDF5B06-0DCF-21CC-DF62-041C009E98B1}"/>
              </a:ext>
            </a:extLst>
          </p:cNvPr>
          <p:cNvSpPr txBox="1"/>
          <p:nvPr/>
        </p:nvSpPr>
        <p:spPr>
          <a:xfrm>
            <a:off x="1517732" y="356109"/>
            <a:ext cx="63284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</a:rPr>
              <a:t>Implementation Plan &amp; Timeline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23877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835DA-64BE-0A8C-8CC3-33D2ECEB1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770909" y="2798618"/>
            <a:ext cx="40141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33721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683</Words>
  <Application>Microsoft Office PowerPoint</Application>
  <PresentationFormat>On-screen Show (4:3)</PresentationFormat>
  <Paragraphs>119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Weather-Robust Road Damage Detection with Enhanced Small Pothole Detection</vt:lpstr>
      <vt:lpstr>Introduction</vt:lpstr>
      <vt:lpstr>Dataset Identification</vt:lpstr>
      <vt:lpstr>Tools &amp; Technologies</vt:lpstr>
      <vt:lpstr>OBJECTIVES OF THE PROJECT</vt:lpstr>
      <vt:lpstr>LITERATURE SURVEY </vt:lpstr>
      <vt:lpstr>PowerPoint Presentation</vt:lpstr>
      <vt:lpstr>METHODOLOGY</vt:lpstr>
      <vt:lpstr>PowerPoint Presentation</vt:lpstr>
      <vt:lpstr>PowerPoint Presentation</vt:lpstr>
      <vt:lpstr>Basic and Proposed Models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Weather-Robust and Explainable Road Damage Detection with Small Pothole Enhancement</dc:title>
  <dc:subject/>
  <dc:creator>VENKAT KUMAR</dc:creator>
  <cp:keywords/>
  <dc:description>generated using python-pptx</dc:description>
  <cp:lastModifiedBy>ashraf ali</cp:lastModifiedBy>
  <cp:revision>27</cp:revision>
  <dcterms:created xsi:type="dcterms:W3CDTF">2013-01-27T09:14:16Z</dcterms:created>
  <dcterms:modified xsi:type="dcterms:W3CDTF">2026-02-02T07:28:58Z</dcterms:modified>
  <cp:category/>
</cp:coreProperties>
</file>